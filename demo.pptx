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5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73A893-A6DD-B703-618C-086399AF6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1800048-DC51-D23F-BF38-154DFCC15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0FAC90-74D2-B9EF-6DA2-A9661B9EA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40F1C3-E243-ED2F-6FA7-1F96E81E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8A1C42-8BE1-B312-0B89-2695E51D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5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A3EC41-A289-7739-9D19-C35CA4673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AD00E8-136E-873C-7A41-80D03D2E4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9048F4-6F53-784C-7418-64D1AC2D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1BFA20-569D-D756-5205-E0E9C7F8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E0F430-7718-23E4-29D7-54C51893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192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4971F4-B2CF-C7E6-2D27-BC623C58D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C36D8AD-698B-F000-3A73-2D36B9BB5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C16CC0-2D5B-8991-40EF-09DCFA813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B44354-3311-4750-41E9-4B2514C5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4242C5-01E8-5DBC-A4CD-B96651D0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338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E8C4F9-D7F7-B461-275B-2BD1E0AD0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F2A65F-7E5E-93C7-99B3-16D7C66AD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DB125A6-1152-CE51-94D6-D166F4E2E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C53363-02D2-3257-F590-B2C42FC9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33F851-A3F2-68FF-6A97-7810BEDD0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31C03E-5A85-CE8E-A725-92CDD853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331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1A5946-484F-8824-616F-C523DA82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B1727A-B674-7E6D-AFA1-9E858FB2D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1E2A66-CF16-8AFF-6082-6DEF6211F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6C8269B-302D-733A-8C77-49715CA4E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8557CA3-4F53-948F-E620-C802C49A3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29BBE8F-0A4F-D496-7467-722DF6C0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051300C-F873-4811-D3CE-55EFF6B85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F87492C-5EF9-B6DC-EF51-3509AF41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8119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B0EF63-B929-AC2B-7D7D-75F113BB4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418383-9549-4DFD-3356-C2456931D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83AAC85-9842-BFB8-0623-F8EF5535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8E4C28C-8F83-AC7D-4E6F-4E234A6B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146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D58165-5AE3-7B17-AB99-BDE23F71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A2A3317-67CB-CA7B-E4FD-8B2D395C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E0937-1D79-D9E3-95B0-33AA5773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4143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11C25C-84B1-E884-14B8-469EC2FF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702EC1-40DA-B338-AE91-85259AAB2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A4C967-3060-16A4-A405-0B40659F5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7C810F-1559-EAB9-AA25-E177CB221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2C7976-D67F-D00D-0079-47369DC05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E1CE4F-A3AD-FA83-3C41-F02F2EEF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084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9B84B-D876-36E9-E2D7-4262DBF7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B970249-452B-AC77-0B5D-FB33BF203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8C0AE42-98B4-995E-69D1-A710A1386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F10AA55-D8E8-C61C-C88B-5AB750D7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A14C46-D6F2-8A8E-CF55-18C345DC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F3B43E-0F88-E17F-1D95-1C83FE51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082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B29F00-3DF2-81DE-80CD-EA9E13348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8F91D7E-2666-BE41-A956-15D7A25C9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CB9B64-10C4-24A6-65E3-2CB1CD915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BBE090-A76D-FC11-9B61-D8102134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0124DF-A498-64C1-FA82-7E6620E3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159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8F9431F-61C8-4A5F-445E-C773BB4C9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1CFB973-D468-726C-35AB-CDD11BBB7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349F11-053B-5FB7-7484-D4C36E7C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A8995F-764D-3533-F1F8-4D9F3F6C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AD104A-CB89-BEF2-6FA0-5C0EDCE0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16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96D5146-3632-AD80-F51B-AC746BDB7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81FBCC-2EF2-A50E-AC50-185F0CE30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3B6A00-AF89-46F7-59B4-05A187BB8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1FB7F2-FC85-420C-8CEA-01D729E28F44}" type="datetimeFigureOut">
              <a:rPr lang="zh-TW" altLang="en-US" smtClean="0"/>
              <a:t>2026/5/9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A68158-B6A4-DE5F-82FD-A724EEF1F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CDA6B-06A3-DB91-EDC5-B8A9A9A35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AFFE8-EC73-4D2C-9576-D8F470715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344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9BAB1A-4E9A-FC75-0B30-40F66D4FC7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demo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2EABB0A-6A9E-21B7-4B49-6036802A0E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363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710A2C-54A9-9F3A-9617-6417DA6D2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054" y="4196971"/>
            <a:ext cx="6870508" cy="50131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請猜測您認為這張照片最可能拍攝的地點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820CCE-CEE4-F4C4-A30D-16B6EBD5E85D}"/>
              </a:ext>
            </a:extLst>
          </p:cNvPr>
          <p:cNvSpPr/>
          <p:nvPr/>
        </p:nvSpPr>
        <p:spPr>
          <a:xfrm>
            <a:off x="3018429" y="221823"/>
            <a:ext cx="6100549" cy="376678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在這裡放入圖片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46F282-CFA5-E1E4-FCFD-DD958D49636E}"/>
              </a:ext>
            </a:extLst>
          </p:cNvPr>
          <p:cNvSpPr/>
          <p:nvPr/>
        </p:nvSpPr>
        <p:spPr>
          <a:xfrm>
            <a:off x="2103462" y="4906655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法國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83621C-A55A-7EA4-69ED-59E9513719E7}"/>
              </a:ext>
            </a:extLst>
          </p:cNvPr>
          <p:cNvSpPr/>
          <p:nvPr/>
        </p:nvSpPr>
        <p:spPr>
          <a:xfrm>
            <a:off x="4189861" y="4906655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智利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A93CDB-E19F-61A5-BF16-E60CFD32320A}"/>
              </a:ext>
            </a:extLst>
          </p:cNvPr>
          <p:cNvSpPr/>
          <p:nvPr/>
        </p:nvSpPr>
        <p:spPr>
          <a:xfrm>
            <a:off x="6355308" y="4906655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摩洛哥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F200A5-6C9B-1952-3D38-66D2C374B066}"/>
              </a:ext>
            </a:extLst>
          </p:cNvPr>
          <p:cNvSpPr/>
          <p:nvPr/>
        </p:nvSpPr>
        <p:spPr>
          <a:xfrm>
            <a:off x="8520755" y="4906655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越南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7BCB06-483C-8169-A51B-21483C012B00}"/>
              </a:ext>
            </a:extLst>
          </p:cNvPr>
          <p:cNvSpPr/>
          <p:nvPr/>
        </p:nvSpPr>
        <p:spPr>
          <a:xfrm>
            <a:off x="10153938" y="5932512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NEXT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53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7006-9454-9E24-18B7-D6A107D30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C79A45-E19A-95F0-140A-6E4880EF7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054" y="4196971"/>
            <a:ext cx="6870508" cy="98917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TW" altLang="en-US" dirty="0"/>
              <a:t>您此次選擇的答案是</a:t>
            </a:r>
            <a:r>
              <a:rPr lang="en-US" altLang="zh-TW" dirty="0"/>
              <a:t>XX</a:t>
            </a:r>
            <a:r>
              <a:rPr lang="zh-TW" altLang="en-US" dirty="0"/>
              <a:t>，請問您對此選項的信心如何？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（</a:t>
            </a:r>
            <a:r>
              <a:rPr lang="en-US" altLang="zh-TW" dirty="0"/>
              <a:t>1</a:t>
            </a:r>
            <a:r>
              <a:rPr lang="zh-TW" altLang="en-US" dirty="0"/>
              <a:t>分 </a:t>
            </a:r>
            <a:r>
              <a:rPr lang="en-US" altLang="zh-TW" dirty="0"/>
              <a:t>= </a:t>
            </a:r>
            <a:r>
              <a:rPr lang="zh-TW" altLang="en-US" dirty="0"/>
              <a:t>非常沒信心；</a:t>
            </a:r>
            <a:r>
              <a:rPr lang="en-US" altLang="zh-TW" dirty="0"/>
              <a:t>5</a:t>
            </a:r>
            <a:r>
              <a:rPr lang="zh-TW" altLang="en-US" dirty="0"/>
              <a:t>分</a:t>
            </a:r>
            <a:r>
              <a:rPr lang="en-US" altLang="zh-TW" dirty="0"/>
              <a:t> = </a:t>
            </a:r>
            <a:r>
              <a:rPr lang="zh-TW" altLang="en-US" dirty="0"/>
              <a:t>非常有信心）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FE5849-796B-FC5E-6E06-97CBA867185E}"/>
              </a:ext>
            </a:extLst>
          </p:cNvPr>
          <p:cNvSpPr/>
          <p:nvPr/>
        </p:nvSpPr>
        <p:spPr>
          <a:xfrm>
            <a:off x="3018429" y="221823"/>
            <a:ext cx="6100549" cy="376678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在這裡放入圖片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D3A93B-BEB3-3F81-6968-9DD1FB0B4106}"/>
              </a:ext>
            </a:extLst>
          </p:cNvPr>
          <p:cNvSpPr/>
          <p:nvPr/>
        </p:nvSpPr>
        <p:spPr>
          <a:xfrm>
            <a:off x="3109418" y="5370680"/>
            <a:ext cx="909848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1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D1424F-73A2-E311-E48D-1302A366609A}"/>
              </a:ext>
            </a:extLst>
          </p:cNvPr>
          <p:cNvSpPr/>
          <p:nvPr/>
        </p:nvSpPr>
        <p:spPr>
          <a:xfrm>
            <a:off x="10153938" y="5932512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NEXT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42A338-1C6C-C96C-907A-86805D6E95F3}"/>
              </a:ext>
            </a:extLst>
          </p:cNvPr>
          <p:cNvSpPr/>
          <p:nvPr/>
        </p:nvSpPr>
        <p:spPr>
          <a:xfrm>
            <a:off x="4346815" y="5370680"/>
            <a:ext cx="909848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2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5E3ECC-6D39-3C0A-BDA1-93E90DE0C0D2}"/>
              </a:ext>
            </a:extLst>
          </p:cNvPr>
          <p:cNvSpPr/>
          <p:nvPr/>
        </p:nvSpPr>
        <p:spPr>
          <a:xfrm>
            <a:off x="5584212" y="5370680"/>
            <a:ext cx="909848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3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C20651-9DE5-300A-6009-2E8C7A51EB5F}"/>
              </a:ext>
            </a:extLst>
          </p:cNvPr>
          <p:cNvSpPr/>
          <p:nvPr/>
        </p:nvSpPr>
        <p:spPr>
          <a:xfrm>
            <a:off x="6821609" y="5370680"/>
            <a:ext cx="909848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4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80B6AD-035A-CB7F-5EBB-1A4C0F6FCA52}"/>
              </a:ext>
            </a:extLst>
          </p:cNvPr>
          <p:cNvSpPr/>
          <p:nvPr/>
        </p:nvSpPr>
        <p:spPr>
          <a:xfrm>
            <a:off x="8059006" y="5370680"/>
            <a:ext cx="909848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5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514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E7E34-8E58-650C-7895-8F325EC0C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9AD93F-58A6-B4DA-FCD7-CB50ED2C4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054" y="4196971"/>
            <a:ext cx="6870508" cy="9891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/>
              <a:t>現在和您對話的機器人是：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D9350D-02AF-4F85-9DEA-154645D4C63B}"/>
              </a:ext>
            </a:extLst>
          </p:cNvPr>
          <p:cNvSpPr/>
          <p:nvPr/>
        </p:nvSpPr>
        <p:spPr>
          <a:xfrm>
            <a:off x="3018429" y="221823"/>
            <a:ext cx="6100549" cy="376678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在這裡放入圖片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BEFD87-17B6-3C64-1415-E09A9F03644E}"/>
              </a:ext>
            </a:extLst>
          </p:cNvPr>
          <p:cNvSpPr/>
          <p:nvPr/>
        </p:nvSpPr>
        <p:spPr>
          <a:xfrm>
            <a:off x="10153938" y="5932512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NEXT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55BE1C-EF73-331B-FE4F-FAC192E8AE07}"/>
              </a:ext>
            </a:extLst>
          </p:cNvPr>
          <p:cNvSpPr/>
          <p:nvPr/>
        </p:nvSpPr>
        <p:spPr>
          <a:xfrm>
            <a:off x="6807958" y="4120532"/>
            <a:ext cx="2247332" cy="23689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在這裡放入機器人圖片一</a:t>
            </a:r>
          </a:p>
        </p:txBody>
      </p:sp>
    </p:spTree>
    <p:extLst>
      <p:ext uri="{BB962C8B-B14F-4D97-AF65-F5344CB8AC3E}">
        <p14:creationId xmlns:p14="http://schemas.microsoft.com/office/powerpoint/2010/main" val="111471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C65744-76BB-5ECB-05B5-A60F3F56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8D52066-CEC8-4D04-1DE1-06D4BA8BAF71}"/>
              </a:ext>
            </a:extLst>
          </p:cNvPr>
          <p:cNvSpPr/>
          <p:nvPr/>
        </p:nvSpPr>
        <p:spPr>
          <a:xfrm>
            <a:off x="3018429" y="221823"/>
            <a:ext cx="6100549" cy="376678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在這裡放入圖片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31571A-D842-0A0D-D72D-86A54F39F663}"/>
              </a:ext>
            </a:extLst>
          </p:cNvPr>
          <p:cNvSpPr/>
          <p:nvPr/>
        </p:nvSpPr>
        <p:spPr>
          <a:xfrm>
            <a:off x="10153938" y="5932512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NEXT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FB55A0-98D3-041C-765E-4BB38950F653}"/>
              </a:ext>
            </a:extLst>
          </p:cNvPr>
          <p:cNvSpPr/>
          <p:nvPr/>
        </p:nvSpPr>
        <p:spPr>
          <a:xfrm>
            <a:off x="3018429" y="4162567"/>
            <a:ext cx="6036861" cy="2326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AC9CF9B-D511-46E3-F433-9BCE9D5E3993}"/>
              </a:ext>
            </a:extLst>
          </p:cNvPr>
          <p:cNvSpPr/>
          <p:nvPr/>
        </p:nvSpPr>
        <p:spPr>
          <a:xfrm>
            <a:off x="3261815" y="4357046"/>
            <a:ext cx="559559" cy="55955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5B888F4-8117-3244-3B1F-1C9E3EEC03CB}"/>
              </a:ext>
            </a:extLst>
          </p:cNvPr>
          <p:cNvSpPr/>
          <p:nvPr/>
        </p:nvSpPr>
        <p:spPr>
          <a:xfrm>
            <a:off x="4032913" y="4380931"/>
            <a:ext cx="2715905" cy="5117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在此輸入機器人訊息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72F43B3-97DA-8B71-4829-C3C737AF65E7}"/>
              </a:ext>
            </a:extLst>
          </p:cNvPr>
          <p:cNvSpPr/>
          <p:nvPr/>
        </p:nvSpPr>
        <p:spPr>
          <a:xfrm>
            <a:off x="4032912" y="5070142"/>
            <a:ext cx="2715905" cy="5117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在此輸入機器人訊息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A5685F9-A7B0-F94E-0F61-1CE5FC6EBE68}"/>
              </a:ext>
            </a:extLst>
          </p:cNvPr>
          <p:cNvSpPr/>
          <p:nvPr/>
        </p:nvSpPr>
        <p:spPr>
          <a:xfrm>
            <a:off x="4032912" y="5779825"/>
            <a:ext cx="2715905" cy="5117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…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輸入中，動態</a:t>
            </a:r>
            <a:r>
              <a:rPr lang="en-US" altLang="zh-TW" dirty="0">
                <a:solidFill>
                  <a:schemeClr val="tx1"/>
                </a:solidFill>
              </a:rPr>
              <a:t>…</a:t>
            </a:r>
            <a:r>
              <a:rPr lang="zh-TW" altLang="en-US" dirty="0">
                <a:solidFill>
                  <a:schemeClr val="tx1"/>
                </a:solidFill>
              </a:rPr>
              <a:t>更好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B43DDFB-3EC6-F7E7-C964-421A59EDEB15}"/>
              </a:ext>
            </a:extLst>
          </p:cNvPr>
          <p:cNvSpPr txBox="1"/>
          <p:nvPr/>
        </p:nvSpPr>
        <p:spPr>
          <a:xfrm>
            <a:off x="7253790" y="4405725"/>
            <a:ext cx="29001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訊息一則一則吐出來，秒數大概每則停留兩到三秒，在停留時可以設計成下一則訊息處出現</a:t>
            </a:r>
            <a:r>
              <a:rPr lang="en-US" altLang="zh-TW" dirty="0"/>
              <a:t>…</a:t>
            </a:r>
            <a:r>
              <a:rPr lang="zh-TW" altLang="en-US" dirty="0"/>
              <a:t>表示輸入中，可以的話視窗設計成可自動滾動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9FF8A45-F373-479B-9966-C65F91884349}"/>
              </a:ext>
            </a:extLst>
          </p:cNvPr>
          <p:cNvSpPr txBox="1"/>
          <p:nvPr/>
        </p:nvSpPr>
        <p:spPr>
          <a:xfrm>
            <a:off x="1919781" y="4405725"/>
            <a:ext cx="145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機器人頭貼</a:t>
            </a:r>
          </a:p>
        </p:txBody>
      </p:sp>
    </p:spTree>
    <p:extLst>
      <p:ext uri="{BB962C8B-B14F-4D97-AF65-F5344CB8AC3E}">
        <p14:creationId xmlns:p14="http://schemas.microsoft.com/office/powerpoint/2010/main" val="359094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AEC81-A67E-E7FE-2F3D-C6F46B2EB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5AA9CB5-0CA6-4327-1116-DCD352BA7A5E}"/>
              </a:ext>
            </a:extLst>
          </p:cNvPr>
          <p:cNvSpPr/>
          <p:nvPr/>
        </p:nvSpPr>
        <p:spPr>
          <a:xfrm>
            <a:off x="516050" y="1521617"/>
            <a:ext cx="5212306" cy="34297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在這裡放入圖片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9B2343-1452-207E-089C-50A8ABFC1AAA}"/>
              </a:ext>
            </a:extLst>
          </p:cNvPr>
          <p:cNvSpPr/>
          <p:nvPr/>
        </p:nvSpPr>
        <p:spPr>
          <a:xfrm>
            <a:off x="10440541" y="5677523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NEXT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65A4E6-AE8C-F9D5-8E59-5F13A5973400}"/>
              </a:ext>
            </a:extLst>
          </p:cNvPr>
          <p:cNvSpPr/>
          <p:nvPr/>
        </p:nvSpPr>
        <p:spPr>
          <a:xfrm>
            <a:off x="6511682" y="3454636"/>
            <a:ext cx="3642255" cy="29564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30D22D2B-B488-6D49-ED14-C5C6AF72A76B}"/>
              </a:ext>
            </a:extLst>
          </p:cNvPr>
          <p:cNvSpPr/>
          <p:nvPr/>
        </p:nvSpPr>
        <p:spPr>
          <a:xfrm>
            <a:off x="6834540" y="248702"/>
            <a:ext cx="3020137" cy="302013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A2F730E-8B15-26AE-CA49-D6863767B692}"/>
              </a:ext>
            </a:extLst>
          </p:cNvPr>
          <p:cNvSpPr/>
          <p:nvPr/>
        </p:nvSpPr>
        <p:spPr>
          <a:xfrm>
            <a:off x="6712706" y="3643848"/>
            <a:ext cx="3263807" cy="5117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在此輸入機器人訊息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9D0B2BA-E687-8628-C3B3-B86B284F62F8}"/>
              </a:ext>
            </a:extLst>
          </p:cNvPr>
          <p:cNvSpPr/>
          <p:nvPr/>
        </p:nvSpPr>
        <p:spPr>
          <a:xfrm>
            <a:off x="6712705" y="4341436"/>
            <a:ext cx="3263808" cy="5117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在此輸入機器人訊息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C82EE5A-4FCE-77D3-C58D-2EDD3D0B4088}"/>
              </a:ext>
            </a:extLst>
          </p:cNvPr>
          <p:cNvSpPr/>
          <p:nvPr/>
        </p:nvSpPr>
        <p:spPr>
          <a:xfrm>
            <a:off x="6712706" y="5026992"/>
            <a:ext cx="3263808" cy="5117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…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輸入中，動態</a:t>
            </a:r>
            <a:r>
              <a:rPr lang="en-US" altLang="zh-TW" dirty="0">
                <a:solidFill>
                  <a:schemeClr val="tx1"/>
                </a:solidFill>
              </a:rPr>
              <a:t>…</a:t>
            </a:r>
            <a:r>
              <a:rPr lang="zh-TW" altLang="en-US" dirty="0">
                <a:solidFill>
                  <a:schemeClr val="tx1"/>
                </a:solidFill>
              </a:rPr>
              <a:t>更好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DE89980-547D-BA25-ECA3-8BDA88BC77F7}"/>
              </a:ext>
            </a:extLst>
          </p:cNvPr>
          <p:cNvSpPr txBox="1"/>
          <p:nvPr/>
        </p:nvSpPr>
        <p:spPr>
          <a:xfrm>
            <a:off x="7617864" y="1449318"/>
            <a:ext cx="145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機器人頭貼</a:t>
            </a:r>
          </a:p>
        </p:txBody>
      </p:sp>
    </p:spTree>
    <p:extLst>
      <p:ext uri="{BB962C8B-B14F-4D97-AF65-F5344CB8AC3E}">
        <p14:creationId xmlns:p14="http://schemas.microsoft.com/office/powerpoint/2010/main" val="35879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855C3-EE33-2A50-5463-27C72CA0B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A13FBD3-461D-8FD2-8942-97DE3F8B6292}"/>
              </a:ext>
            </a:extLst>
          </p:cNvPr>
          <p:cNvSpPr/>
          <p:nvPr/>
        </p:nvSpPr>
        <p:spPr>
          <a:xfrm>
            <a:off x="3018429" y="221823"/>
            <a:ext cx="6100549" cy="376678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在這裡放入圖片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014AE9-4DEC-15FC-0B04-C9848DFA6636}"/>
              </a:ext>
            </a:extLst>
          </p:cNvPr>
          <p:cNvSpPr/>
          <p:nvPr/>
        </p:nvSpPr>
        <p:spPr>
          <a:xfrm>
            <a:off x="10153938" y="5932512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NEXT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832D1F8C-1797-95DA-38BE-CD15C410E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257" y="4135557"/>
            <a:ext cx="6967749" cy="10020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200" dirty="0"/>
              <a:t>你選擇的地點是ＯＯ，以上對話中機器人推薦的地點為</a:t>
            </a:r>
            <a:r>
              <a:rPr lang="en-US" altLang="zh-TW" sz="2200" dirty="0"/>
              <a:t>XX</a:t>
            </a:r>
            <a:r>
              <a:rPr lang="zh-TW" altLang="en-US" sz="2200" dirty="0"/>
              <a:t>，請再次猜測您認為這張照片最可能拍攝的地點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A8ED8E-1E61-6477-CAA7-5CF190C4E37B}"/>
              </a:ext>
            </a:extLst>
          </p:cNvPr>
          <p:cNvSpPr/>
          <p:nvPr/>
        </p:nvSpPr>
        <p:spPr>
          <a:xfrm>
            <a:off x="2226292" y="4980628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法國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9D9EAA-B081-7B8B-8CD2-DA209CE483EC}"/>
              </a:ext>
            </a:extLst>
          </p:cNvPr>
          <p:cNvSpPr/>
          <p:nvPr/>
        </p:nvSpPr>
        <p:spPr>
          <a:xfrm>
            <a:off x="4312691" y="4980628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智利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5DE16B-F4C6-B7FF-FE77-9C7A244124D0}"/>
              </a:ext>
            </a:extLst>
          </p:cNvPr>
          <p:cNvSpPr/>
          <p:nvPr/>
        </p:nvSpPr>
        <p:spPr>
          <a:xfrm>
            <a:off x="6478138" y="4980628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摩洛哥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0E328E0-9346-145B-908F-4C5AD2C432B2}"/>
              </a:ext>
            </a:extLst>
          </p:cNvPr>
          <p:cNvSpPr/>
          <p:nvPr/>
        </p:nvSpPr>
        <p:spPr>
          <a:xfrm>
            <a:off x="8643585" y="4980628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越南</a:t>
            </a:r>
          </a:p>
        </p:txBody>
      </p:sp>
    </p:spTree>
    <p:extLst>
      <p:ext uri="{BB962C8B-B14F-4D97-AF65-F5344CB8AC3E}">
        <p14:creationId xmlns:p14="http://schemas.microsoft.com/office/powerpoint/2010/main" val="69344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C0876-0D18-CBAD-0C94-CF251A10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823E071-4E6C-68C5-62BC-DDEE5A941F5F}"/>
              </a:ext>
            </a:extLst>
          </p:cNvPr>
          <p:cNvSpPr/>
          <p:nvPr/>
        </p:nvSpPr>
        <p:spPr>
          <a:xfrm>
            <a:off x="3018429" y="221823"/>
            <a:ext cx="6100549" cy="376678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dirty="0">
                <a:solidFill>
                  <a:schemeClr val="tx1"/>
                </a:solidFill>
              </a:rPr>
              <a:t>在這裡放入圖片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C64170-8442-6DF9-3AEC-2BFDC573F805}"/>
              </a:ext>
            </a:extLst>
          </p:cNvPr>
          <p:cNvSpPr/>
          <p:nvPr/>
        </p:nvSpPr>
        <p:spPr>
          <a:xfrm>
            <a:off x="10153938" y="5932512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NEXT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EAA2637D-C3D4-6581-0A2C-B79A8B0C286A}"/>
              </a:ext>
            </a:extLst>
          </p:cNvPr>
          <p:cNvSpPr txBox="1">
            <a:spLocks/>
          </p:cNvSpPr>
          <p:nvPr/>
        </p:nvSpPr>
        <p:spPr>
          <a:xfrm>
            <a:off x="2920054" y="4196971"/>
            <a:ext cx="6870508" cy="98917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/>
              <a:t>您選擇的答案是</a:t>
            </a:r>
            <a:r>
              <a:rPr lang="en-US" altLang="zh-TW"/>
              <a:t>XX</a:t>
            </a:r>
            <a:r>
              <a:rPr lang="zh-TW" altLang="en-US"/>
              <a:t>，請問您對此選項的信心如何？</a:t>
            </a:r>
            <a:endParaRPr lang="en-US" altLang="zh-TW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/>
              <a:t>（</a:t>
            </a:r>
            <a:r>
              <a:rPr lang="en-US" altLang="zh-TW"/>
              <a:t>1</a:t>
            </a:r>
            <a:r>
              <a:rPr lang="zh-TW" altLang="en-US"/>
              <a:t>分 </a:t>
            </a:r>
            <a:r>
              <a:rPr lang="en-US" altLang="zh-TW"/>
              <a:t>= </a:t>
            </a:r>
            <a:r>
              <a:rPr lang="zh-TW" altLang="en-US"/>
              <a:t>非常沒信心；</a:t>
            </a:r>
            <a:r>
              <a:rPr lang="en-US" altLang="zh-TW"/>
              <a:t>5</a:t>
            </a:r>
            <a:r>
              <a:rPr lang="zh-TW" altLang="en-US"/>
              <a:t>分</a:t>
            </a:r>
            <a:r>
              <a:rPr lang="en-US" altLang="zh-TW"/>
              <a:t> = </a:t>
            </a:r>
            <a:r>
              <a:rPr lang="zh-TW" altLang="en-US"/>
              <a:t>非常有信心）</a:t>
            </a: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AF7D95-B8E3-6403-44B3-CA7D8E6077D7}"/>
              </a:ext>
            </a:extLst>
          </p:cNvPr>
          <p:cNvSpPr/>
          <p:nvPr/>
        </p:nvSpPr>
        <p:spPr>
          <a:xfrm>
            <a:off x="3109418" y="5370680"/>
            <a:ext cx="909848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1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06D245-6635-466F-05F0-AB773FBCE76A}"/>
              </a:ext>
            </a:extLst>
          </p:cNvPr>
          <p:cNvSpPr/>
          <p:nvPr/>
        </p:nvSpPr>
        <p:spPr>
          <a:xfrm>
            <a:off x="4346815" y="5370680"/>
            <a:ext cx="909848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2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2F3658-D572-29CA-E3C5-D6CD0E67EAD9}"/>
              </a:ext>
            </a:extLst>
          </p:cNvPr>
          <p:cNvSpPr/>
          <p:nvPr/>
        </p:nvSpPr>
        <p:spPr>
          <a:xfrm>
            <a:off x="5584212" y="5370680"/>
            <a:ext cx="909848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3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6ED7F8-AB8A-BBBF-260B-2005D5B4886A}"/>
              </a:ext>
            </a:extLst>
          </p:cNvPr>
          <p:cNvSpPr/>
          <p:nvPr/>
        </p:nvSpPr>
        <p:spPr>
          <a:xfrm>
            <a:off x="6821609" y="5370680"/>
            <a:ext cx="909848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4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5BFF21-40AC-0156-B3EC-36305FAF7E8C}"/>
              </a:ext>
            </a:extLst>
          </p:cNvPr>
          <p:cNvSpPr/>
          <p:nvPr/>
        </p:nvSpPr>
        <p:spPr>
          <a:xfrm>
            <a:off x="8059006" y="5370680"/>
            <a:ext cx="909848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5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495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B0B31807-E16F-E09A-FC52-A6E485A65D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620096"/>
              </p:ext>
            </p:extLst>
          </p:nvPr>
        </p:nvGraphicFramePr>
        <p:xfrm>
          <a:off x="3252716" y="2316480"/>
          <a:ext cx="5991368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9744">
                  <a:extLst>
                    <a:ext uri="{9D8B030D-6E8A-4147-A177-3AD203B41FA5}">
                      <a16:colId xmlns:a16="http://schemas.microsoft.com/office/drawing/2014/main" val="3191719738"/>
                    </a:ext>
                  </a:extLst>
                </a:gridCol>
                <a:gridCol w="484495">
                  <a:extLst>
                    <a:ext uri="{9D8B030D-6E8A-4147-A177-3AD203B41FA5}">
                      <a16:colId xmlns:a16="http://schemas.microsoft.com/office/drawing/2014/main" val="3591910855"/>
                    </a:ext>
                  </a:extLst>
                </a:gridCol>
                <a:gridCol w="464024">
                  <a:extLst>
                    <a:ext uri="{9D8B030D-6E8A-4147-A177-3AD203B41FA5}">
                      <a16:colId xmlns:a16="http://schemas.microsoft.com/office/drawing/2014/main" val="990755883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35551046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3542965945"/>
                    </a:ext>
                  </a:extLst>
                </a:gridCol>
                <a:gridCol w="525439">
                  <a:extLst>
                    <a:ext uri="{9D8B030D-6E8A-4147-A177-3AD203B41FA5}">
                      <a16:colId xmlns:a16="http://schemas.microsoft.com/office/drawing/2014/main" val="3583596747"/>
                    </a:ext>
                  </a:extLst>
                </a:gridCol>
                <a:gridCol w="1637732">
                  <a:extLst>
                    <a:ext uri="{9D8B030D-6E8A-4147-A177-3AD203B41FA5}">
                      <a16:colId xmlns:a16="http://schemas.microsoft.com/office/drawing/2014/main" val="3604307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虛假的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１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３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５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真實的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0635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．．．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１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３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５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．．．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7257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134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1372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4099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0515881"/>
                  </a:ext>
                </a:extLst>
              </a:tr>
            </a:tbl>
          </a:graphicData>
        </a:graphic>
      </p:graphicFrame>
      <p:sp>
        <p:nvSpPr>
          <p:cNvPr id="4" name="AutoShape 2">
            <a:extLst>
              <a:ext uri="{FF2B5EF4-FFF2-40B4-BE49-F238E27FC236}">
                <a16:creationId xmlns:a16="http://schemas.microsoft.com/office/drawing/2014/main" id="{77E9869B-9B58-26DB-C765-F0D4072549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E949617B-B756-2A6B-8A96-A2850EC009B5}"/>
              </a:ext>
            </a:extLst>
          </p:cNvPr>
          <p:cNvSpPr txBox="1">
            <a:spLocks/>
          </p:cNvSpPr>
          <p:nvPr/>
        </p:nvSpPr>
        <p:spPr>
          <a:xfrm>
            <a:off x="1029269" y="535618"/>
            <a:ext cx="6870508" cy="2053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dirty="0"/>
              <a:t>（十五個</a:t>
            </a:r>
            <a:r>
              <a:rPr lang="en-US" altLang="zh-TW" sz="2400" dirty="0"/>
              <a:t>trials</a:t>
            </a:r>
            <a:r>
              <a:rPr lang="zh-TW" altLang="en-US" sz="2400" dirty="0"/>
              <a:t>結束之後才顯示，題目太長的話，可滾動頁面）</a:t>
            </a:r>
            <a:endParaRPr lang="en-US" altLang="zh-TW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dirty="0"/>
              <a:t>請根據您和本輪的機器人對話之後，依您對機器人的整體印象及感受回答：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99388215-A3EF-2BB9-B207-447B74F27F41}"/>
              </a:ext>
            </a:extLst>
          </p:cNvPr>
          <p:cNvSpPr txBox="1">
            <a:spLocks/>
          </p:cNvSpPr>
          <p:nvPr/>
        </p:nvSpPr>
        <p:spPr>
          <a:xfrm>
            <a:off x="1029269" y="3767806"/>
            <a:ext cx="6870508" cy="2053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dirty="0"/>
              <a:t>整體而言，請問你有多相信本輪的機器人所提供的答案？</a:t>
            </a:r>
            <a:endParaRPr lang="en-US" altLang="zh-TW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					</a:t>
            </a:r>
            <a:endParaRPr lang="zh-TW" altLang="en-US" sz="24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546D802-05F3-0B85-0C87-EDDC5C375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315903"/>
              </p:ext>
            </p:extLst>
          </p:nvPr>
        </p:nvGraphicFramePr>
        <p:xfrm>
          <a:off x="3252716" y="4611920"/>
          <a:ext cx="5991368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9744">
                  <a:extLst>
                    <a:ext uri="{9D8B030D-6E8A-4147-A177-3AD203B41FA5}">
                      <a16:colId xmlns:a16="http://schemas.microsoft.com/office/drawing/2014/main" val="3159019982"/>
                    </a:ext>
                  </a:extLst>
                </a:gridCol>
                <a:gridCol w="484495">
                  <a:extLst>
                    <a:ext uri="{9D8B030D-6E8A-4147-A177-3AD203B41FA5}">
                      <a16:colId xmlns:a16="http://schemas.microsoft.com/office/drawing/2014/main" val="3188001816"/>
                    </a:ext>
                  </a:extLst>
                </a:gridCol>
                <a:gridCol w="464024">
                  <a:extLst>
                    <a:ext uri="{9D8B030D-6E8A-4147-A177-3AD203B41FA5}">
                      <a16:colId xmlns:a16="http://schemas.microsoft.com/office/drawing/2014/main" val="498093637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442293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4208439639"/>
                    </a:ext>
                  </a:extLst>
                </a:gridCol>
                <a:gridCol w="525439">
                  <a:extLst>
                    <a:ext uri="{9D8B030D-6E8A-4147-A177-3AD203B41FA5}">
                      <a16:colId xmlns:a16="http://schemas.microsoft.com/office/drawing/2014/main" val="575590661"/>
                    </a:ext>
                  </a:extLst>
                </a:gridCol>
                <a:gridCol w="1637732">
                  <a:extLst>
                    <a:ext uri="{9D8B030D-6E8A-4147-A177-3AD203B41FA5}">
                      <a16:colId xmlns:a16="http://schemas.microsoft.com/office/drawing/2014/main" val="4242479268"/>
                    </a:ext>
                  </a:extLst>
                </a:gridCol>
              </a:tblGrid>
              <a:tr h="183088">
                <a:tc>
                  <a:txBody>
                    <a:bodyPr/>
                    <a:lstStyle/>
                    <a:p>
                      <a:r>
                        <a:rPr lang="zh-TW" altLang="en-US" dirty="0"/>
                        <a:t>非常不相信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１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２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３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５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非常相信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090809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6FF77C7C-91D4-B58F-E9CB-FB65EDB10C45}"/>
              </a:ext>
            </a:extLst>
          </p:cNvPr>
          <p:cNvSpPr/>
          <p:nvPr/>
        </p:nvSpPr>
        <p:spPr>
          <a:xfrm>
            <a:off x="10153938" y="5932512"/>
            <a:ext cx="1633183" cy="7335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tx1"/>
                </a:solidFill>
              </a:rPr>
              <a:t>NEXT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06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BF9F4F5D1901984BAD881001DF7C56F6" ma:contentTypeVersion="5" ma:contentTypeDescription="建立新的文件。" ma:contentTypeScope="" ma:versionID="8d05b74ea59f0cf19c3df7585f280556">
  <xsd:schema xmlns:xsd="http://www.w3.org/2001/XMLSchema" xmlns:xs="http://www.w3.org/2001/XMLSchema" xmlns:p="http://schemas.microsoft.com/office/2006/metadata/properties" xmlns:ns3="435f3519-7e15-4e5d-aee8-b8858f4c6a2e" targetNamespace="http://schemas.microsoft.com/office/2006/metadata/properties" ma:root="true" ma:fieldsID="76536f3fe6d12a93bbf3d2c06cf12508" ns3:_="">
    <xsd:import namespace="435f3519-7e15-4e5d-aee8-b8858f4c6a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5f3519-7e15-4e5d-aee8-b8858f4c6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26A1B3-7878-4EAE-AE15-24AB11F1A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5f3519-7e15-4e5d-aee8-b8858f4c6a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48C39D-0A6F-476A-8439-209710E229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E9DB3C-7291-480B-9E75-6706E022FAD8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435f3519-7e15-4e5d-aee8-b8858f4c6a2e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345</Words>
  <Application>Microsoft Office PowerPoint</Application>
  <PresentationFormat>寬螢幕</PresentationFormat>
  <Paragraphs>76</Paragraphs>
  <Slides>9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佈景主題</vt:lpstr>
      <vt:lpstr>demo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劉春秀</dc:creator>
  <cp:lastModifiedBy>劉春秀</cp:lastModifiedBy>
  <cp:revision>2</cp:revision>
  <dcterms:created xsi:type="dcterms:W3CDTF">2026-05-09T15:18:58Z</dcterms:created>
  <dcterms:modified xsi:type="dcterms:W3CDTF">2026-05-09T17:11:25Z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0x010100BF9F4F5D1901984BAD881001DF7C56F6</vt:lpwstr>
  </property>
</Properties>
</file>